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840605" y="3145790"/>
            <a:ext cx="1634490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MLLM</a:t>
            </a:r>
            <a:endParaRPr lang="en-US" altLang="zh-CN"/>
          </a:p>
        </p:txBody>
      </p:sp>
      <p:sp>
        <p:nvSpPr>
          <p:cNvPr id="5" name="右大括号 4"/>
          <p:cNvSpPr/>
          <p:nvPr/>
        </p:nvSpPr>
        <p:spPr>
          <a:xfrm>
            <a:off x="4455160" y="1360805"/>
            <a:ext cx="311785" cy="5107940"/>
          </a:xfrm>
          <a:prstGeom prst="rightBrace">
            <a:avLst>
              <a:gd name="adj1" fmla="val 8333"/>
              <a:gd name="adj2" fmla="val 4523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0080" y="2188845"/>
            <a:ext cx="863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image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0080" y="6100445"/>
            <a:ext cx="163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GOAL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395" y="138430"/>
            <a:ext cx="1635125" cy="36341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23795" y="5658485"/>
            <a:ext cx="18834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Send a email to dan123.</a:t>
            </a:r>
            <a:endParaRPr lang="en-US" altLang="zh-CN" sz="1600"/>
          </a:p>
          <a:p>
            <a:r>
              <a:rPr lang="en-US" altLang="zh-CN" sz="1600"/>
              <a:t>subject: ***</a:t>
            </a:r>
            <a:endParaRPr lang="en-US" altLang="zh-CN" sz="1600"/>
          </a:p>
          <a:p>
            <a:r>
              <a:rPr lang="en-US" altLang="zh-CN" sz="1600"/>
              <a:t>content: ***</a:t>
            </a:r>
            <a:endParaRPr lang="en-US" altLang="zh-CN" sz="1600"/>
          </a:p>
        </p:txBody>
      </p:sp>
      <p:sp>
        <p:nvSpPr>
          <p:cNvPr id="10" name="左大括号 9"/>
          <p:cNvSpPr/>
          <p:nvPr/>
        </p:nvSpPr>
        <p:spPr>
          <a:xfrm>
            <a:off x="6586220" y="1360805"/>
            <a:ext cx="311785" cy="5107940"/>
          </a:xfrm>
          <a:prstGeom prst="leftBrace">
            <a:avLst>
              <a:gd name="adj1" fmla="val 8333"/>
              <a:gd name="adj2" fmla="val 446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39915" y="1083945"/>
            <a:ext cx="2691130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&lt;think&gt;</a:t>
            </a:r>
            <a:r>
              <a:rPr lang="en-US" altLang="zh-CN" sz="16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600"/>
              <a:t>I need to tap the send bottom, which is in the upper right corner of the page.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&lt;/think&gt;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09130" y="5819140"/>
            <a:ext cx="223393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&lt;action&gt;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/>
              <a:t>Tap (10, 980)</a:t>
            </a:r>
            <a:endParaRPr lang="en-US" altLang="zh-CN" sz="1600"/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&lt;/action&gt;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72955" y="1288415"/>
            <a:ext cx="1390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Language Reasoning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672955" y="6187440"/>
            <a:ext cx="1390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Action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98005" y="645795"/>
            <a:ext cx="4242435" cy="610044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59825" y="3511550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Compute SFT Loss</a:t>
            </a:r>
            <a:endParaRPr lang="en-US" altLang="zh-CN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0368280" y="1933575"/>
            <a:ext cx="27940" cy="157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10074275" y="3919855"/>
            <a:ext cx="45085" cy="2252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/>
          <p:nvPr/>
        </p:nvSpPr>
        <p:spPr>
          <a:xfrm>
            <a:off x="9697720" y="1250315"/>
            <a:ext cx="1281430" cy="69977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840605" y="3145790"/>
            <a:ext cx="1634490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MLLM</a:t>
            </a:r>
            <a:endParaRPr lang="en-US" altLang="zh-CN"/>
          </a:p>
        </p:txBody>
      </p:sp>
      <p:sp>
        <p:nvSpPr>
          <p:cNvPr id="5" name="右大括号 4"/>
          <p:cNvSpPr/>
          <p:nvPr/>
        </p:nvSpPr>
        <p:spPr>
          <a:xfrm>
            <a:off x="4455160" y="1360805"/>
            <a:ext cx="311785" cy="5107940"/>
          </a:xfrm>
          <a:prstGeom prst="rightBrace">
            <a:avLst>
              <a:gd name="adj1" fmla="val 8333"/>
              <a:gd name="adj2" fmla="val 4523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0080" y="2188845"/>
            <a:ext cx="863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image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0080" y="6100445"/>
            <a:ext cx="163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GOAL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395" y="138430"/>
            <a:ext cx="1635125" cy="36341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23795" y="5658485"/>
            <a:ext cx="18834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Send a email to dan123.</a:t>
            </a:r>
            <a:endParaRPr lang="en-US" altLang="zh-CN" sz="1600"/>
          </a:p>
          <a:p>
            <a:r>
              <a:rPr lang="en-US" altLang="zh-CN" sz="1600"/>
              <a:t>subject: ***</a:t>
            </a:r>
            <a:endParaRPr lang="en-US" altLang="zh-CN" sz="1600"/>
          </a:p>
          <a:p>
            <a:r>
              <a:rPr lang="en-US" altLang="zh-CN" sz="1600"/>
              <a:t>content: ***</a:t>
            </a:r>
            <a:endParaRPr lang="en-US" altLang="zh-CN" sz="1600"/>
          </a:p>
        </p:txBody>
      </p:sp>
      <p:sp>
        <p:nvSpPr>
          <p:cNvPr id="10" name="左大括号 9"/>
          <p:cNvSpPr/>
          <p:nvPr/>
        </p:nvSpPr>
        <p:spPr>
          <a:xfrm>
            <a:off x="6586220" y="1360805"/>
            <a:ext cx="311785" cy="5107940"/>
          </a:xfrm>
          <a:prstGeom prst="leftBrace">
            <a:avLst>
              <a:gd name="adj1" fmla="val 8333"/>
              <a:gd name="adj2" fmla="val 446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009130" y="2448560"/>
            <a:ext cx="2233930" cy="886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&lt;action&gt;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>
                <a:sym typeface="+mn-ea"/>
              </a:rPr>
              <a:t>Tap (10, 980)</a:t>
            </a:r>
            <a:endParaRPr lang="en-US" altLang="zh-CN" sz="1600"/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&lt;/action&gt;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72955" y="1288415"/>
            <a:ext cx="1390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Language Reasoning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882505" y="2654935"/>
            <a:ext cx="1390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Action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98005" y="645795"/>
            <a:ext cx="4242435" cy="610044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147050" y="6271260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Compute Loss</a:t>
            </a:r>
            <a:endParaRPr lang="en-US" altLang="zh-CN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77075" y="3856990"/>
            <a:ext cx="2233930" cy="886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accent6">
                    <a:lumMod val="75000"/>
                  </a:schemeClr>
                </a:solidFill>
                <a:sym typeface="+mn-ea"/>
              </a:rPr>
              <a:t>&lt;imagine&gt;</a:t>
            </a:r>
            <a:endParaRPr lang="en-US" altLang="zh-CN" sz="16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sz="1600"/>
              <a:t>HTML</a:t>
            </a:r>
            <a:endParaRPr lang="en-US" altLang="zh-CN" sz="1600"/>
          </a:p>
          <a:p>
            <a:r>
              <a:rPr lang="en-US" altLang="zh-CN" sz="1600">
                <a:solidFill>
                  <a:schemeClr val="accent6">
                    <a:lumMod val="75000"/>
                  </a:schemeClr>
                </a:solidFill>
                <a:sym typeface="+mn-ea"/>
              </a:rPr>
              <a:t>&lt;/imagine&gt;</a:t>
            </a:r>
            <a:endParaRPr lang="en-US" altLang="zh-CN" sz="160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72955" y="3952240"/>
            <a:ext cx="1390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  World Prediction</a:t>
            </a:r>
            <a:endParaRPr lang="en-US" altLang="zh-CN" b="1">
              <a:solidFill>
                <a:schemeClr val="accent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697720" y="2448560"/>
            <a:ext cx="1281430" cy="69977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672955" y="3952240"/>
            <a:ext cx="1281430" cy="699770"/>
          </a:xfrm>
          <a:prstGeom prst="rect">
            <a:avLst/>
          </a:prstGeom>
          <a:noFill/>
          <a:ln w="28575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曲线连接符 24"/>
          <p:cNvCxnSpPr>
            <a:stCxn id="13" idx="1"/>
          </p:cNvCxnSpPr>
          <p:nvPr/>
        </p:nvCxnSpPr>
        <p:spPr>
          <a:xfrm rot="10800000" flipV="1">
            <a:off x="8849995" y="1610995"/>
            <a:ext cx="822960" cy="457708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曲线连接符 25"/>
          <p:cNvCxnSpPr>
            <a:stCxn id="23" idx="1"/>
          </p:cNvCxnSpPr>
          <p:nvPr/>
        </p:nvCxnSpPr>
        <p:spPr>
          <a:xfrm rot="10800000" flipV="1">
            <a:off x="9086850" y="2797810"/>
            <a:ext cx="610870" cy="33801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曲线连接符 26"/>
          <p:cNvCxnSpPr>
            <a:stCxn id="24" idx="1"/>
          </p:cNvCxnSpPr>
          <p:nvPr/>
        </p:nvCxnSpPr>
        <p:spPr>
          <a:xfrm rot="10800000" flipV="1">
            <a:off x="9303385" y="4301490"/>
            <a:ext cx="369570" cy="182689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939915" y="1083945"/>
            <a:ext cx="2691130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&lt;think&gt;</a:t>
            </a:r>
            <a:r>
              <a:rPr lang="en-US" altLang="zh-CN" sz="1600"/>
              <a:t> I need to tap the send bottom, which is in the upper right corner of the page.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&lt;/think&gt;</a:t>
            </a:r>
            <a:endParaRPr lang="en-US" altLang="zh-CN" sz="16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1607185" y="2985770"/>
            <a:ext cx="1102995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VLA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95275" y="3148330"/>
            <a:ext cx="621030" cy="5619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3585845" y="120586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at(1)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585845" y="242379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at(2)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3585845" y="387159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at(3)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3585845" y="5088890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at(4)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5082540" y="2262505"/>
            <a:ext cx="1102995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World Model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934200" y="64389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s(1)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934200" y="186182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s(2)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934200" y="330962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s(3)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6934200" y="4526915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s(4)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10061575" y="141859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v(1)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0061575" y="263652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v(2)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10061575" y="408432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v(3)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10061575" y="530161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v(4)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8363585" y="3148330"/>
            <a:ext cx="1102995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Value Model</a:t>
            </a:r>
            <a:endParaRPr lang="en-US" altLang="zh-CN"/>
          </a:p>
        </p:txBody>
      </p:sp>
      <p:cxnSp>
        <p:nvCxnSpPr>
          <p:cNvPr id="21" name="直接箭头连接符 20"/>
          <p:cNvCxnSpPr>
            <a:stCxn id="5" idx="3"/>
            <a:endCxn id="4" idx="1"/>
          </p:cNvCxnSpPr>
          <p:nvPr/>
        </p:nvCxnSpPr>
        <p:spPr>
          <a:xfrm flipV="1">
            <a:off x="916305" y="3429000"/>
            <a:ext cx="69088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左大括号 21"/>
          <p:cNvSpPr/>
          <p:nvPr/>
        </p:nvSpPr>
        <p:spPr>
          <a:xfrm>
            <a:off x="2778760" y="1369060"/>
            <a:ext cx="601345" cy="413956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7" idx="3"/>
            <a:endCxn id="10" idx="1"/>
          </p:cNvCxnSpPr>
          <p:nvPr/>
        </p:nvCxnSpPr>
        <p:spPr>
          <a:xfrm>
            <a:off x="4206875" y="2705100"/>
            <a:ext cx="87566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左大括号 23"/>
          <p:cNvSpPr/>
          <p:nvPr/>
        </p:nvSpPr>
        <p:spPr>
          <a:xfrm>
            <a:off x="6316980" y="829310"/>
            <a:ext cx="492760" cy="388302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14" idx="3"/>
            <a:endCxn id="20" idx="1"/>
          </p:cNvCxnSpPr>
          <p:nvPr/>
        </p:nvCxnSpPr>
        <p:spPr>
          <a:xfrm>
            <a:off x="7555230" y="3590925"/>
            <a:ext cx="80835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左大括号 25"/>
          <p:cNvSpPr/>
          <p:nvPr/>
        </p:nvSpPr>
        <p:spPr>
          <a:xfrm>
            <a:off x="9530080" y="1575435"/>
            <a:ext cx="433705" cy="40513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1607185" y="2985770"/>
            <a:ext cx="1102995" cy="88582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VLA</a:t>
            </a:r>
            <a:endParaRPr lang="en-US" altLang="zh-CN"/>
          </a:p>
          <a:p>
            <a:pPr algn="ctr"/>
            <a:r>
              <a:rPr lang="en-US" altLang="zh-CN"/>
              <a:t>Model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95275" y="3148330"/>
            <a:ext cx="621030" cy="5619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401060" y="3148330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at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4897755" y="2987040"/>
            <a:ext cx="1102995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World Model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748145" y="193040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h(1)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6749415" y="4034155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h(2)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9876790" y="214312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v(1)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9876790" y="336105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v(2)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9876790" y="480885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v(3)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9876790" y="602615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v(4)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8178800" y="3872865"/>
            <a:ext cx="1102995" cy="8858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Value Model</a:t>
            </a:r>
            <a:endParaRPr lang="en-US" altLang="zh-CN"/>
          </a:p>
        </p:txBody>
      </p:sp>
      <p:cxnSp>
        <p:nvCxnSpPr>
          <p:cNvPr id="21" name="直接箭头连接符 20"/>
          <p:cNvCxnSpPr>
            <a:stCxn id="5" idx="3"/>
            <a:endCxn id="4" idx="1"/>
          </p:cNvCxnSpPr>
          <p:nvPr/>
        </p:nvCxnSpPr>
        <p:spPr>
          <a:xfrm flipV="1">
            <a:off x="916305" y="3429000"/>
            <a:ext cx="69088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3"/>
            <a:endCxn id="10" idx="1"/>
          </p:cNvCxnSpPr>
          <p:nvPr/>
        </p:nvCxnSpPr>
        <p:spPr>
          <a:xfrm>
            <a:off x="4022090" y="3429635"/>
            <a:ext cx="87566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左大括号 23"/>
          <p:cNvSpPr/>
          <p:nvPr/>
        </p:nvSpPr>
        <p:spPr>
          <a:xfrm>
            <a:off x="6142355" y="2205355"/>
            <a:ext cx="492760" cy="24498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14" idx="3"/>
            <a:endCxn id="20" idx="1"/>
          </p:cNvCxnSpPr>
          <p:nvPr/>
        </p:nvCxnSpPr>
        <p:spPr>
          <a:xfrm>
            <a:off x="7370445" y="4315460"/>
            <a:ext cx="80835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左大括号 25"/>
          <p:cNvSpPr/>
          <p:nvPr/>
        </p:nvSpPr>
        <p:spPr>
          <a:xfrm>
            <a:off x="9345295" y="2299970"/>
            <a:ext cx="433705" cy="40513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2710180" y="3428365"/>
            <a:ext cx="69088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右大括号 2"/>
          <p:cNvSpPr/>
          <p:nvPr/>
        </p:nvSpPr>
        <p:spPr>
          <a:xfrm rot="5400000">
            <a:off x="1863725" y="2639695"/>
            <a:ext cx="482600" cy="31743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16305" y="4582795"/>
            <a:ext cx="26371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We have finished this model checkpoint (probably right)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2335" y="2408555"/>
            <a:ext cx="1518285" cy="51816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255" y="2411730"/>
            <a:ext cx="1003300" cy="5149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985" y="3430270"/>
            <a:ext cx="1346835" cy="341630"/>
          </a:xfrm>
          <a:prstGeom prst="rect">
            <a:avLst/>
          </a:prstGeom>
        </p:spPr>
      </p:pic>
      <p:sp>
        <p:nvSpPr>
          <p:cNvPr id="31" name="右大括号 30"/>
          <p:cNvSpPr/>
          <p:nvPr/>
        </p:nvSpPr>
        <p:spPr>
          <a:xfrm rot="16200000">
            <a:off x="8381365" y="-458470"/>
            <a:ext cx="482600" cy="37496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860540" y="402590"/>
            <a:ext cx="35242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8 </a:t>
            </a:r>
            <a:r>
              <a:rPr lang="en-US" altLang="zh-CN" b="1">
                <a:solidFill>
                  <a:srgbClr val="00B0F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estimated (h,v)</a:t>
            </a: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 pairs to compare with </a:t>
            </a:r>
            <a:r>
              <a:rPr lang="en-US" altLang="zh-CN" b="1">
                <a:solidFill>
                  <a:schemeClr val="accent6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GT (h,v)</a:t>
            </a:r>
            <a:endParaRPr lang="en-US" altLang="zh-CN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083435" y="2950210"/>
            <a:ext cx="1102995" cy="92138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Joint WAM</a:t>
            </a:r>
            <a:br>
              <a:rPr lang="en-US" altLang="zh-CN"/>
            </a:br>
            <a:r>
              <a:rPr lang="en-US" altLang="zh-CN"/>
              <a:t>Model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71525" y="3138805"/>
            <a:ext cx="621030" cy="5619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790950" y="1663700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a(1)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864735" y="166370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h(1)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5951855" y="166370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v(1)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5951855" y="263969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v(2)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951855" y="3683635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v(3)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951855" y="4669790"/>
            <a:ext cx="621030" cy="561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v(4)</a:t>
            </a:r>
            <a:endParaRPr lang="en-US" altLang="zh-CN"/>
          </a:p>
        </p:txBody>
      </p:sp>
      <p:cxnSp>
        <p:nvCxnSpPr>
          <p:cNvPr id="21" name="直接箭头连接符 20"/>
          <p:cNvCxnSpPr>
            <a:stCxn id="5" idx="3"/>
            <a:endCxn id="4" idx="1"/>
          </p:cNvCxnSpPr>
          <p:nvPr/>
        </p:nvCxnSpPr>
        <p:spPr>
          <a:xfrm flipV="1">
            <a:off x="1392555" y="3411220"/>
            <a:ext cx="69088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左大括号 23"/>
          <p:cNvSpPr/>
          <p:nvPr/>
        </p:nvSpPr>
        <p:spPr>
          <a:xfrm>
            <a:off x="3227705" y="1929765"/>
            <a:ext cx="492760" cy="307022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482340" y="527685"/>
            <a:ext cx="35242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4 </a:t>
            </a:r>
            <a:r>
              <a:rPr lang="en-US" altLang="zh-CN" b="1">
                <a:solidFill>
                  <a:srgbClr val="00B0F0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estimated (a,h,v)</a:t>
            </a:r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 samples</a:t>
            </a:r>
            <a:endParaRPr lang="en-US" altLang="zh-CN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89680" y="263969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a(2)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780155" y="368363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a(3)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789045" y="4681855"/>
            <a:ext cx="621030" cy="5619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a(4)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4864735" y="2639695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ht(2)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4864735" y="3683635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h(3)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4872990" y="4678680"/>
            <a:ext cx="621030" cy="5619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h(4)</a:t>
            </a:r>
            <a:endParaRPr lang="en-US" altLang="zh-CN"/>
          </a:p>
        </p:txBody>
      </p:sp>
      <p:sp>
        <p:nvSpPr>
          <p:cNvPr id="34" name="右大括号 33"/>
          <p:cNvSpPr/>
          <p:nvPr/>
        </p:nvSpPr>
        <p:spPr>
          <a:xfrm>
            <a:off x="8629650" y="1663700"/>
            <a:ext cx="492760" cy="3489325"/>
          </a:xfrm>
          <a:prstGeom prst="rightBrace">
            <a:avLst>
              <a:gd name="adj1" fmla="val 8333"/>
              <a:gd name="adj2" fmla="val 4973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368540" y="1663700"/>
            <a:ext cx="975360" cy="561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score1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368540" y="2639695"/>
            <a:ext cx="975360" cy="561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score2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368540" y="3683635"/>
            <a:ext cx="975360" cy="561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score3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368540" y="4678680"/>
            <a:ext cx="975360" cy="5619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score4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9" name="右大括号 38"/>
          <p:cNvSpPr/>
          <p:nvPr/>
        </p:nvSpPr>
        <p:spPr>
          <a:xfrm rot="16200000">
            <a:off x="4900930" y="-84455"/>
            <a:ext cx="561340" cy="27832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167245" y="1022985"/>
            <a:ext cx="1523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6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LLM Judge</a:t>
            </a:r>
            <a:endParaRPr lang="en-US" altLang="zh-CN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 flipV="1">
            <a:off x="9122410" y="3392805"/>
            <a:ext cx="69088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9813290" y="2950210"/>
            <a:ext cx="1102995" cy="92138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GRPO</a:t>
            </a:r>
            <a:endParaRPr lang="en-US" altLang="zh-CN"/>
          </a:p>
        </p:txBody>
      </p:sp>
      <p:sp>
        <p:nvSpPr>
          <p:cNvPr id="47" name="右大括号 46"/>
          <p:cNvSpPr/>
          <p:nvPr/>
        </p:nvSpPr>
        <p:spPr>
          <a:xfrm rot="5400000">
            <a:off x="5513070" y="857250"/>
            <a:ext cx="561340" cy="10044430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333875" y="6262370"/>
            <a:ext cx="35242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proceed only in one step</a:t>
            </a:r>
            <a:endParaRPr lang="en-US" altLang="zh-CN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WPS 表格</Application>
  <PresentationFormat>宽屏</PresentationFormat>
  <Paragraphs>153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peilinfeng</cp:lastModifiedBy>
  <cp:revision>165</cp:revision>
  <dcterms:created xsi:type="dcterms:W3CDTF">2026-05-30T05:46:56Z</dcterms:created>
  <dcterms:modified xsi:type="dcterms:W3CDTF">2026-05-30T05:46:56Z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366586E47B0609941751156AA6CF4584_41</vt:lpwstr>
  </property>
</Properties>
</file>